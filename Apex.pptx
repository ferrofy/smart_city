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  <p:embeddedFont>
      <p:font typeface="Arimo Bold" charset="1" panose="020B07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png" Type="http://schemas.openxmlformats.org/officeDocument/2006/relationships/image"/><Relationship Id="rId22" Target="../media/image27.sv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289412" y="1866233"/>
            <a:ext cx="9705975" cy="2924175"/>
            <a:chOff x="0" y="0"/>
            <a:chExt cx="12941300" cy="3898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41300" cy="3898900"/>
            </a:xfrm>
            <a:custGeom>
              <a:avLst/>
              <a:gdLst/>
              <a:ahLst/>
              <a:cxnLst/>
              <a:rect r="r" b="b" t="t" l="l"/>
              <a:pathLst>
                <a:path h="3898900" w="12941300">
                  <a:moveTo>
                    <a:pt x="0" y="0"/>
                  </a:moveTo>
                  <a:lnTo>
                    <a:pt x="12941300" y="0"/>
                  </a:lnTo>
                  <a:lnTo>
                    <a:pt x="12941300" y="3898900"/>
                  </a:lnTo>
                  <a:lnTo>
                    <a:pt x="0" y="389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6" r="0" b="-20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49720" y="5751662"/>
            <a:ext cx="8172450" cy="19050"/>
            <a:chOff x="0" y="0"/>
            <a:chExt cx="10896600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96600" cy="25400"/>
            </a:xfrm>
            <a:custGeom>
              <a:avLst/>
              <a:gdLst/>
              <a:ahLst/>
              <a:cxnLst/>
              <a:rect r="r" b="b" t="t" l="l"/>
              <a:pathLst>
                <a:path h="25400" w="10896600">
                  <a:moveTo>
                    <a:pt x="0" y="25400"/>
                  </a:moveTo>
                  <a:lnTo>
                    <a:pt x="10896600" y="25400"/>
                  </a:lnTo>
                  <a:lnTo>
                    <a:pt x="10896600" y="0"/>
                  </a:lnTo>
                  <a:lnTo>
                    <a:pt x="0" y="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49710" y="9523276"/>
            <a:ext cx="8172450" cy="19050"/>
            <a:chOff x="0" y="0"/>
            <a:chExt cx="108966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96600" cy="24638"/>
            </a:xfrm>
            <a:custGeom>
              <a:avLst/>
              <a:gdLst/>
              <a:ahLst/>
              <a:cxnLst/>
              <a:rect r="r" b="b" t="t" l="l"/>
              <a:pathLst>
                <a:path h="24638" w="10896600">
                  <a:moveTo>
                    <a:pt x="10896600" y="0"/>
                  </a:moveTo>
                  <a:lnTo>
                    <a:pt x="5776722" y="0"/>
                  </a:lnTo>
                  <a:lnTo>
                    <a:pt x="5776722" y="381"/>
                  </a:lnTo>
                  <a:lnTo>
                    <a:pt x="0" y="381"/>
                  </a:lnTo>
                  <a:lnTo>
                    <a:pt x="0" y="24638"/>
                  </a:lnTo>
                  <a:lnTo>
                    <a:pt x="5776722" y="24638"/>
                  </a:lnTo>
                  <a:lnTo>
                    <a:pt x="5778500" y="24638"/>
                  </a:lnTo>
                  <a:lnTo>
                    <a:pt x="10896600" y="24638"/>
                  </a:lnTo>
                  <a:lnTo>
                    <a:pt x="108966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4383935" y="4790408"/>
          <a:ext cx="9516930" cy="4943475"/>
        </p:xfrm>
        <a:graphic>
          <a:graphicData uri="http://schemas.openxmlformats.org/drawingml/2006/table">
            <a:tbl>
              <a:tblPr/>
              <a:tblGrid>
                <a:gridCol w="4454490"/>
                <a:gridCol w="5062440"/>
              </a:tblGrid>
              <a:tr h="1401451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7000"/>
                        </a:lnSpc>
                        <a:defRPr/>
                      </a:pPr>
                      <a:r>
                        <a:rPr lang="en-US" sz="5000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Vikrant Pathania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2511981265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Prince Raj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2511981192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0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00000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Anil Thapa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2511981029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6978353" y="537210"/>
            <a:ext cx="433129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Smart City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813839" y="2415514"/>
            <a:ext cx="9342433" cy="5801989"/>
          </a:xfrm>
          <a:custGeom>
            <a:avLst/>
            <a:gdLst/>
            <a:ahLst/>
            <a:cxnLst/>
            <a:rect r="r" b="b" t="t" l="l"/>
            <a:pathLst>
              <a:path h="5801989" w="9342433">
                <a:moveTo>
                  <a:pt x="0" y="0"/>
                </a:moveTo>
                <a:lnTo>
                  <a:pt x="9342432" y="0"/>
                </a:lnTo>
                <a:lnTo>
                  <a:pt x="9342432" y="5801989"/>
                </a:lnTo>
                <a:lnTo>
                  <a:pt x="0" y="58019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76" r="0" b="-400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49978" y="2053795"/>
            <a:ext cx="627489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941" y="3580312"/>
            <a:ext cx="9048337" cy="551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136" indent="-375568" lvl="1">
              <a:lnSpc>
                <a:spcPts val="4870"/>
              </a:lnSpc>
              <a:buFont typeface="Arial"/>
              <a:buChar char="•"/>
            </a:pPr>
            <a:r>
              <a:rPr lang="en-US" b="true" sz="34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Traffic: Static timers cause jams; emergency vehicles get stuck.</a:t>
            </a:r>
          </a:p>
          <a:p>
            <a:pPr algn="l" marL="751136" indent="-375568" lvl="1">
              <a:lnSpc>
                <a:spcPts val="4870"/>
              </a:lnSpc>
              <a:buFont typeface="Arial"/>
              <a:buChar char="•"/>
            </a:pPr>
            <a:r>
              <a:rPr lang="en-US" b="true" sz="34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Waste: Zero automated segregation leads to landfill overflow.</a:t>
            </a:r>
          </a:p>
          <a:p>
            <a:pPr algn="l" marL="751136" indent="-375568" lvl="1">
              <a:lnSpc>
                <a:spcPts val="4870"/>
              </a:lnSpc>
              <a:buFont typeface="Arial"/>
              <a:buChar char="•"/>
            </a:pPr>
            <a:r>
              <a:rPr lang="en-US" b="true" sz="34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Safety: Blind spots in dense areas/roads.</a:t>
            </a:r>
          </a:p>
          <a:p>
            <a:pPr algn="l" marL="751136" indent="-375568" lvl="1">
              <a:lnSpc>
                <a:spcPts val="4870"/>
              </a:lnSpc>
              <a:buFont typeface="Arial"/>
              <a:buChar char="•"/>
            </a:pPr>
            <a:r>
              <a:rPr lang="en-US" b="true" sz="34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Energy: Streetlights stay 100% bright on empty roads.</a:t>
            </a:r>
          </a:p>
          <a:p>
            <a:pPr algn="l">
              <a:lnSpc>
                <a:spcPts val="487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142740" y="2343300"/>
            <a:ext cx="9145260" cy="5874203"/>
          </a:xfrm>
          <a:custGeom>
            <a:avLst/>
            <a:gdLst/>
            <a:ahLst/>
            <a:cxnLst/>
            <a:rect r="r" b="b" t="t" l="l"/>
            <a:pathLst>
              <a:path h="5874203" w="9145260">
                <a:moveTo>
                  <a:pt x="0" y="0"/>
                </a:moveTo>
                <a:lnTo>
                  <a:pt x="9145260" y="0"/>
                </a:lnTo>
                <a:lnTo>
                  <a:pt x="9145260" y="5874203"/>
                </a:lnTo>
                <a:lnTo>
                  <a:pt x="0" y="5874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7" t="-2939" r="-964" b="-328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6789" y="2215016"/>
            <a:ext cx="638844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Current Challenges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8026" y="3778521"/>
            <a:ext cx="8785974" cy="52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7669" indent="-398834" lvl="1">
              <a:lnSpc>
                <a:spcPts val="5172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Static Tech: </a:t>
            </a:r>
            <a:r>
              <a:rPr lang="en-US" b="true" sz="3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Infrastructure can't "see" or adapt to real-time data.</a:t>
            </a:r>
          </a:p>
          <a:p>
            <a:pPr algn="l" marL="797669" indent="-398834" lvl="1">
              <a:lnSpc>
                <a:spcPts val="5172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Human Error: Manual waste sorting is slow and inaccurate.</a:t>
            </a:r>
          </a:p>
          <a:p>
            <a:pPr algn="l" marL="797669" indent="-398834" lvl="1">
              <a:lnSpc>
                <a:spcPts val="5172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Scale: 24/7 manual surveillance is too expensive.</a:t>
            </a:r>
          </a:p>
          <a:p>
            <a:pPr algn="l" marL="797669" indent="-398834" lvl="1">
              <a:lnSpc>
                <a:spcPts val="5172"/>
              </a:lnSpc>
              <a:buFont typeface="Arial"/>
              <a:buChar char="•"/>
            </a:pPr>
            <a:r>
              <a:rPr lang="en-US" b="true" sz="3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Isolated Data: Systems don't talk to each other.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020261" y="2618115"/>
            <a:ext cx="7753389" cy="4985141"/>
          </a:xfrm>
          <a:custGeom>
            <a:avLst/>
            <a:gdLst/>
            <a:ahLst/>
            <a:cxnLst/>
            <a:rect r="r" b="b" t="t" l="l"/>
            <a:pathLst>
              <a:path h="4985141" w="7753389">
                <a:moveTo>
                  <a:pt x="0" y="0"/>
                </a:moveTo>
                <a:lnTo>
                  <a:pt x="7753389" y="0"/>
                </a:lnTo>
                <a:lnTo>
                  <a:pt x="7753389" y="4985141"/>
                </a:lnTo>
                <a:lnTo>
                  <a:pt x="0" y="4985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778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77898" y="2175203"/>
            <a:ext cx="614362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Proposed Solution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2794" y="3698895"/>
            <a:ext cx="9823339" cy="500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713" indent="-386357" lvl="1">
              <a:lnSpc>
                <a:spcPts val="5010"/>
              </a:lnSpc>
              <a:buFont typeface="Arial"/>
              <a:buChar char="•"/>
            </a:pPr>
            <a:r>
              <a:rPr lang="en-US" b="true" sz="35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</a:t>
            </a:r>
            <a:r>
              <a:rPr lang="en-US" b="true" sz="35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Traffic: Computer Vision for signal override and lane management.</a:t>
            </a:r>
          </a:p>
          <a:p>
            <a:pPr algn="l" marL="772713" indent="-386357" lvl="1">
              <a:lnSpc>
                <a:spcPts val="5010"/>
              </a:lnSpc>
              <a:buFont typeface="Arial"/>
              <a:buChar char="•"/>
            </a:pPr>
            <a:r>
              <a:rPr lang="en-US" b="true" sz="35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Smart Bin: Automated mechanical segregation via spectral sensors.</a:t>
            </a:r>
          </a:p>
          <a:p>
            <a:pPr algn="l" marL="772713" indent="-386357" lvl="1">
              <a:lnSpc>
                <a:spcPts val="5010"/>
              </a:lnSpc>
              <a:buFont typeface="Arial"/>
              <a:buChar char="•"/>
            </a:pPr>
            <a:r>
              <a:rPr lang="en-US" b="true" sz="35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Drone Sentinel: 24/7 autonomous aerial safety patrols.</a:t>
            </a:r>
          </a:p>
          <a:p>
            <a:pPr algn="l" marL="772713" indent="-386357" lvl="1">
              <a:lnSpc>
                <a:spcPts val="5010"/>
              </a:lnSpc>
              <a:buFont typeface="Arial"/>
              <a:buChar char="•"/>
            </a:pPr>
            <a:r>
              <a:rPr lang="en-US" b="true" sz="35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Adaptive Light: Motion-sensor-based dimming for energy efficiency.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355168" y="2390688"/>
            <a:ext cx="6191925" cy="4953540"/>
          </a:xfrm>
          <a:custGeom>
            <a:avLst/>
            <a:gdLst/>
            <a:ahLst/>
            <a:cxnLst/>
            <a:rect r="r" b="b" t="t" l="l"/>
            <a:pathLst>
              <a:path h="4953540" w="6191925">
                <a:moveTo>
                  <a:pt x="0" y="0"/>
                </a:moveTo>
                <a:lnTo>
                  <a:pt x="6191926" y="0"/>
                </a:lnTo>
                <a:lnTo>
                  <a:pt x="6191926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86500" y="2381163"/>
            <a:ext cx="628024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Solution Workflow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7027" y="4120341"/>
            <a:ext cx="9874982" cy="45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947" indent="-350473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Inp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ut: 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Cameras, IoT Sensors, and Drones.</a:t>
            </a:r>
          </a:p>
          <a:p>
            <a:pPr algn="l" marL="700947" indent="-350473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Edge: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Python (CV) and C++ process data instantly.</a:t>
            </a:r>
          </a:p>
          <a:p>
            <a:pPr algn="l" marL="700947" indent="-350473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Control: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Central Hub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(HTML/JS) monitors city health.</a:t>
            </a:r>
          </a:p>
          <a:p>
            <a:pPr algn="l" marL="700947" indent="-350473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Output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b="true" sz="324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Lights change, waste is sorted, and power is saved.</a:t>
            </a:r>
          </a:p>
          <a:p>
            <a:pPr algn="l" marL="1401893" indent="-467298" lvl="2">
              <a:lnSpc>
                <a:spcPts val="4545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733523" y="2986649"/>
            <a:ext cx="7389709" cy="4016835"/>
          </a:xfrm>
          <a:custGeom>
            <a:avLst/>
            <a:gdLst/>
            <a:ahLst/>
            <a:cxnLst/>
            <a:rect r="r" b="b" t="t" l="l"/>
            <a:pathLst>
              <a:path h="4016835" w="7389709">
                <a:moveTo>
                  <a:pt x="0" y="0"/>
                </a:moveTo>
                <a:lnTo>
                  <a:pt x="7389709" y="0"/>
                </a:lnTo>
                <a:lnTo>
                  <a:pt x="7389709" y="4016835"/>
                </a:lnTo>
                <a:lnTo>
                  <a:pt x="0" y="40168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686" r="-19175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8026" y="3559662"/>
            <a:ext cx="10375497" cy="586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1544" indent="-450772" lvl="1">
              <a:lnSpc>
                <a:spcPts val="5846"/>
              </a:lnSpc>
              <a:buFont typeface="Arial"/>
              <a:buChar char="•"/>
            </a:pPr>
            <a:r>
              <a:rPr lang="en-US" b="true" sz="41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Lif</a:t>
            </a:r>
            <a:r>
              <a:rPr lang="en-US" b="true" sz="41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e-First: Instant emergency vehicle priority.</a:t>
            </a:r>
          </a:p>
          <a:p>
            <a:pPr algn="l" marL="901544" indent="-450772" lvl="1">
              <a:lnSpc>
                <a:spcPts val="5846"/>
              </a:lnSpc>
              <a:buFont typeface="Arial"/>
              <a:buChar char="•"/>
            </a:pPr>
            <a:r>
              <a:rPr lang="en-US" b="true" sz="41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Eco-Friendly: Up to 60% energy reduction in lighting.</a:t>
            </a:r>
          </a:p>
          <a:p>
            <a:pPr algn="l" marL="901544" indent="-450772" lvl="1">
              <a:lnSpc>
                <a:spcPts val="5846"/>
              </a:lnSpc>
              <a:buFont typeface="Arial"/>
              <a:buChar char="•"/>
            </a:pPr>
            <a:r>
              <a:rPr lang="en-US" b="true" sz="41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Automated: Eliminates human error in waste segregation.</a:t>
            </a:r>
          </a:p>
          <a:p>
            <a:pPr algn="l" marL="901544" indent="-450772" lvl="1">
              <a:lnSpc>
                <a:spcPts val="5846"/>
              </a:lnSpc>
              <a:buFont typeface="Arial"/>
              <a:buChar char="•"/>
            </a:pPr>
            <a:r>
              <a:rPr lang="en-US" b="true" sz="41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Unified: One dashboard for all city services.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94300" y="2110349"/>
            <a:ext cx="437420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625960" y="585787"/>
            <a:ext cx="658519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Technical Approach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20100" y="1857417"/>
            <a:ext cx="17053550" cy="7917339"/>
            <a:chOff x="0" y="0"/>
            <a:chExt cx="22738067" cy="105564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334990" y="99428"/>
              <a:ext cx="5233514" cy="5233514"/>
            </a:xfrm>
            <a:custGeom>
              <a:avLst/>
              <a:gdLst/>
              <a:ahLst/>
              <a:cxnLst/>
              <a:rect r="r" b="b" t="t" l="l"/>
              <a:pathLst>
                <a:path h="5233514" w="5233514">
                  <a:moveTo>
                    <a:pt x="0" y="0"/>
                  </a:moveTo>
                  <a:lnTo>
                    <a:pt x="5233514" y="0"/>
                  </a:lnTo>
                  <a:lnTo>
                    <a:pt x="5233514" y="5233515"/>
                  </a:lnTo>
                  <a:lnTo>
                    <a:pt x="0" y="5233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356993" y="4201254"/>
              <a:ext cx="3432979" cy="2571420"/>
            </a:xfrm>
            <a:custGeom>
              <a:avLst/>
              <a:gdLst/>
              <a:ahLst/>
              <a:cxnLst/>
              <a:rect r="r" b="b" t="t" l="l"/>
              <a:pathLst>
                <a:path h="2571420" w="3432979">
                  <a:moveTo>
                    <a:pt x="0" y="0"/>
                  </a:moveTo>
                  <a:lnTo>
                    <a:pt x="3432978" y="0"/>
                  </a:lnTo>
                  <a:lnTo>
                    <a:pt x="3432978" y="2571420"/>
                  </a:lnTo>
                  <a:lnTo>
                    <a:pt x="0" y="2571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788246" y="4808067"/>
              <a:ext cx="1830971" cy="1830971"/>
            </a:xfrm>
            <a:custGeom>
              <a:avLst/>
              <a:gdLst/>
              <a:ahLst/>
              <a:cxnLst/>
              <a:rect r="r" b="b" t="t" l="l"/>
              <a:pathLst>
                <a:path h="1830971" w="1830971">
                  <a:moveTo>
                    <a:pt x="0" y="0"/>
                  </a:moveTo>
                  <a:lnTo>
                    <a:pt x="1830971" y="0"/>
                  </a:lnTo>
                  <a:lnTo>
                    <a:pt x="1830971" y="1830971"/>
                  </a:lnTo>
                  <a:lnTo>
                    <a:pt x="0" y="1830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473515" y="331959"/>
              <a:ext cx="2801958" cy="1974713"/>
            </a:xfrm>
            <a:custGeom>
              <a:avLst/>
              <a:gdLst/>
              <a:ahLst/>
              <a:cxnLst/>
              <a:rect r="r" b="b" t="t" l="l"/>
              <a:pathLst>
                <a:path h="1974713" w="2801958">
                  <a:moveTo>
                    <a:pt x="0" y="0"/>
                  </a:moveTo>
                  <a:lnTo>
                    <a:pt x="2801958" y="0"/>
                  </a:lnTo>
                  <a:lnTo>
                    <a:pt x="2801958" y="1974714"/>
                  </a:lnTo>
                  <a:lnTo>
                    <a:pt x="0" y="1974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7809843" y="4846454"/>
              <a:ext cx="2471010" cy="1926220"/>
            </a:xfrm>
            <a:custGeom>
              <a:avLst/>
              <a:gdLst/>
              <a:ahLst/>
              <a:cxnLst/>
              <a:rect r="r" b="b" t="t" l="l"/>
              <a:pathLst>
                <a:path h="1926220" w="2471010">
                  <a:moveTo>
                    <a:pt x="0" y="0"/>
                  </a:moveTo>
                  <a:lnTo>
                    <a:pt x="2471009" y="0"/>
                  </a:lnTo>
                  <a:lnTo>
                    <a:pt x="2471009" y="1926220"/>
                  </a:lnTo>
                  <a:lnTo>
                    <a:pt x="0" y="1926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-5400000">
              <a:off x="20725549" y="5013858"/>
              <a:ext cx="2825122" cy="1199914"/>
            </a:xfrm>
            <a:custGeom>
              <a:avLst/>
              <a:gdLst/>
              <a:ahLst/>
              <a:cxnLst/>
              <a:rect r="r" b="b" t="t" l="l"/>
              <a:pathLst>
                <a:path h="1199914" w="2825122">
                  <a:moveTo>
                    <a:pt x="0" y="0"/>
                  </a:moveTo>
                  <a:lnTo>
                    <a:pt x="2825121" y="0"/>
                  </a:lnTo>
                  <a:lnTo>
                    <a:pt x="2825121" y="1199914"/>
                  </a:lnTo>
                  <a:lnTo>
                    <a:pt x="0" y="1199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8701" t="0" r="-31948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95950"/>
              <a:ext cx="2759198" cy="2759198"/>
            </a:xfrm>
            <a:custGeom>
              <a:avLst/>
              <a:gdLst/>
              <a:ahLst/>
              <a:cxnLst/>
              <a:rect r="r" b="b" t="t" l="l"/>
              <a:pathLst>
                <a:path h="2759198" w="2759198">
                  <a:moveTo>
                    <a:pt x="0" y="0"/>
                  </a:moveTo>
                  <a:lnTo>
                    <a:pt x="2759198" y="0"/>
                  </a:lnTo>
                  <a:lnTo>
                    <a:pt x="2759198" y="2759198"/>
                  </a:lnTo>
                  <a:lnTo>
                    <a:pt x="0" y="275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7336120" y="8476628"/>
              <a:ext cx="3761118" cy="2079824"/>
            </a:xfrm>
            <a:custGeom>
              <a:avLst/>
              <a:gdLst/>
              <a:ahLst/>
              <a:cxnLst/>
              <a:rect r="r" b="b" t="t" l="l"/>
              <a:pathLst>
                <a:path h="2079824" w="3761118">
                  <a:moveTo>
                    <a:pt x="0" y="0"/>
                  </a:moveTo>
                  <a:lnTo>
                    <a:pt x="3761118" y="0"/>
                  </a:lnTo>
                  <a:lnTo>
                    <a:pt x="3761118" y="2079824"/>
                  </a:lnTo>
                  <a:lnTo>
                    <a:pt x="0" y="2079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568504" y="8003742"/>
              <a:ext cx="3752514" cy="1300084"/>
            </a:xfrm>
            <a:custGeom>
              <a:avLst/>
              <a:gdLst/>
              <a:ahLst/>
              <a:cxnLst/>
              <a:rect r="r" b="b" t="t" l="l"/>
              <a:pathLst>
                <a:path h="1300084" w="3752514">
                  <a:moveTo>
                    <a:pt x="0" y="0"/>
                  </a:moveTo>
                  <a:lnTo>
                    <a:pt x="3752514" y="0"/>
                  </a:lnTo>
                  <a:lnTo>
                    <a:pt x="3752514" y="1300083"/>
                  </a:lnTo>
                  <a:lnTo>
                    <a:pt x="0" y="1300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-5609757">
              <a:off x="3146992" y="-1704713"/>
              <a:ext cx="1745673" cy="5486400"/>
            </a:xfrm>
            <a:custGeom>
              <a:avLst/>
              <a:gdLst/>
              <a:ahLst/>
              <a:cxnLst/>
              <a:rect r="r" b="b" t="t" l="l"/>
              <a:pathLst>
                <a:path h="5486400" w="1745673">
                  <a:moveTo>
                    <a:pt x="0" y="0"/>
                  </a:moveTo>
                  <a:lnTo>
                    <a:pt x="1745673" y="0"/>
                  </a:lnTo>
                  <a:lnTo>
                    <a:pt x="174567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8598374">
              <a:off x="1255664" y="5103984"/>
              <a:ext cx="4481685" cy="765961"/>
            </a:xfrm>
            <a:custGeom>
              <a:avLst/>
              <a:gdLst/>
              <a:ahLst/>
              <a:cxnLst/>
              <a:rect r="r" b="b" t="t" l="l"/>
              <a:pathLst>
                <a:path h="765961" w="4481685">
                  <a:moveTo>
                    <a:pt x="0" y="0"/>
                  </a:moveTo>
                  <a:lnTo>
                    <a:pt x="4481685" y="0"/>
                  </a:lnTo>
                  <a:lnTo>
                    <a:pt x="4481685" y="765960"/>
                  </a:lnTo>
                  <a:lnTo>
                    <a:pt x="0" y="76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437747" y="2060903"/>
              <a:ext cx="3229057" cy="4519036"/>
            </a:xfrm>
            <a:custGeom>
              <a:avLst/>
              <a:gdLst/>
              <a:ahLst/>
              <a:cxnLst/>
              <a:rect r="r" b="b" t="t" l="l"/>
              <a:pathLst>
                <a:path h="4519036" w="3229057">
                  <a:moveTo>
                    <a:pt x="0" y="0"/>
                  </a:moveTo>
                  <a:lnTo>
                    <a:pt x="3229057" y="0"/>
                  </a:lnTo>
                  <a:lnTo>
                    <a:pt x="3229057" y="4519036"/>
                  </a:lnTo>
                  <a:lnTo>
                    <a:pt x="0" y="4519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true" flipV="false" rot="-6226274">
              <a:off x="3760090" y="5733428"/>
              <a:ext cx="1745673" cy="5486400"/>
            </a:xfrm>
            <a:custGeom>
              <a:avLst/>
              <a:gdLst/>
              <a:ahLst/>
              <a:cxnLst/>
              <a:rect r="r" b="b" t="t" l="l"/>
              <a:pathLst>
                <a:path h="5486400" w="1745673">
                  <a:moveTo>
                    <a:pt x="1745672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1745672" y="5486400"/>
                  </a:lnTo>
                  <a:lnTo>
                    <a:pt x="1745672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3400025">
              <a:off x="8030238" y="6263109"/>
              <a:ext cx="2817614" cy="481556"/>
            </a:xfrm>
            <a:custGeom>
              <a:avLst/>
              <a:gdLst/>
              <a:ahLst/>
              <a:cxnLst/>
              <a:rect r="r" b="b" t="t" l="l"/>
              <a:pathLst>
                <a:path h="481556" w="2817614">
                  <a:moveTo>
                    <a:pt x="0" y="0"/>
                  </a:moveTo>
                  <a:lnTo>
                    <a:pt x="2817614" y="0"/>
                  </a:lnTo>
                  <a:lnTo>
                    <a:pt x="2817614" y="481556"/>
                  </a:lnTo>
                  <a:lnTo>
                    <a:pt x="0" y="481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3028193">
              <a:off x="19763645" y="3171696"/>
              <a:ext cx="2672114" cy="456689"/>
            </a:xfrm>
            <a:custGeom>
              <a:avLst/>
              <a:gdLst/>
              <a:ahLst/>
              <a:cxnLst/>
              <a:rect r="r" b="b" t="t" l="l"/>
              <a:pathLst>
                <a:path h="456689" w="2672114">
                  <a:moveTo>
                    <a:pt x="0" y="0"/>
                  </a:moveTo>
                  <a:lnTo>
                    <a:pt x="2672114" y="0"/>
                  </a:lnTo>
                  <a:lnTo>
                    <a:pt x="2672114" y="456689"/>
                  </a:lnTo>
                  <a:lnTo>
                    <a:pt x="0" y="456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075591" y="1023841"/>
              <a:ext cx="3112706" cy="1692345"/>
            </a:xfrm>
            <a:custGeom>
              <a:avLst/>
              <a:gdLst/>
              <a:ahLst/>
              <a:cxnLst/>
              <a:rect r="r" b="b" t="t" l="l"/>
              <a:pathLst>
                <a:path h="1692345" w="3112706">
                  <a:moveTo>
                    <a:pt x="0" y="0"/>
                  </a:moveTo>
                  <a:lnTo>
                    <a:pt x="3112706" y="0"/>
                  </a:lnTo>
                  <a:lnTo>
                    <a:pt x="3112706" y="1692345"/>
                  </a:lnTo>
                  <a:lnTo>
                    <a:pt x="0" y="1692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-2118481">
              <a:off x="14635367" y="1312247"/>
              <a:ext cx="1112330" cy="3495895"/>
            </a:xfrm>
            <a:custGeom>
              <a:avLst/>
              <a:gdLst/>
              <a:ahLst/>
              <a:cxnLst/>
              <a:rect r="r" b="b" t="t" l="l"/>
              <a:pathLst>
                <a:path h="3495895" w="1112330">
                  <a:moveTo>
                    <a:pt x="0" y="0"/>
                  </a:moveTo>
                  <a:lnTo>
                    <a:pt x="1112330" y="0"/>
                  </a:lnTo>
                  <a:lnTo>
                    <a:pt x="1112330" y="3495895"/>
                  </a:lnTo>
                  <a:lnTo>
                    <a:pt x="0" y="3495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0834330" y="2911024"/>
              <a:ext cx="3953916" cy="1170820"/>
            </a:xfrm>
            <a:custGeom>
              <a:avLst/>
              <a:gdLst/>
              <a:ahLst/>
              <a:cxnLst/>
              <a:rect r="r" b="b" t="t" l="l"/>
              <a:pathLst>
                <a:path h="1170820" w="3953916">
                  <a:moveTo>
                    <a:pt x="0" y="0"/>
                  </a:moveTo>
                  <a:lnTo>
                    <a:pt x="3953916" y="0"/>
                  </a:lnTo>
                  <a:lnTo>
                    <a:pt x="3953916" y="1170820"/>
                  </a:lnTo>
                  <a:lnTo>
                    <a:pt x="0" y="1170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-2505899">
              <a:off x="8242187" y="3748834"/>
              <a:ext cx="2977451" cy="508874"/>
            </a:xfrm>
            <a:custGeom>
              <a:avLst/>
              <a:gdLst/>
              <a:ahLst/>
              <a:cxnLst/>
              <a:rect r="r" b="b" t="t" l="l"/>
              <a:pathLst>
                <a:path h="508874" w="2977451">
                  <a:moveTo>
                    <a:pt x="0" y="0"/>
                  </a:moveTo>
                  <a:lnTo>
                    <a:pt x="2977451" y="0"/>
                  </a:lnTo>
                  <a:lnTo>
                    <a:pt x="2977451" y="508874"/>
                  </a:lnTo>
                  <a:lnTo>
                    <a:pt x="0" y="50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-5538157">
              <a:off x="13743260" y="5086051"/>
              <a:ext cx="1745673" cy="5486400"/>
            </a:xfrm>
            <a:custGeom>
              <a:avLst/>
              <a:gdLst/>
              <a:ahLst/>
              <a:cxnLst/>
              <a:rect r="r" b="b" t="t" l="l"/>
              <a:pathLst>
                <a:path h="5486400" w="1745673">
                  <a:moveTo>
                    <a:pt x="0" y="0"/>
                  </a:moveTo>
                  <a:lnTo>
                    <a:pt x="1745673" y="0"/>
                  </a:lnTo>
                  <a:lnTo>
                    <a:pt x="174567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5965779">
              <a:off x="17746981" y="3471292"/>
              <a:ext cx="2682530" cy="458469"/>
            </a:xfrm>
            <a:custGeom>
              <a:avLst/>
              <a:gdLst/>
              <a:ahLst/>
              <a:cxnLst/>
              <a:rect r="r" b="b" t="t" l="l"/>
              <a:pathLst>
                <a:path h="458469" w="2682530">
                  <a:moveTo>
                    <a:pt x="0" y="0"/>
                  </a:moveTo>
                  <a:lnTo>
                    <a:pt x="2682529" y="0"/>
                  </a:lnTo>
                  <a:lnTo>
                    <a:pt x="2682529" y="458469"/>
                  </a:lnTo>
                  <a:lnTo>
                    <a:pt x="0" y="45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-2999976">
              <a:off x="15706356" y="3365935"/>
              <a:ext cx="3238967" cy="553569"/>
            </a:xfrm>
            <a:custGeom>
              <a:avLst/>
              <a:gdLst/>
              <a:ahLst/>
              <a:cxnLst/>
              <a:rect r="r" b="b" t="t" l="l"/>
              <a:pathLst>
                <a:path h="553569" w="3238967">
                  <a:moveTo>
                    <a:pt x="0" y="0"/>
                  </a:moveTo>
                  <a:lnTo>
                    <a:pt x="3238967" y="0"/>
                  </a:lnTo>
                  <a:lnTo>
                    <a:pt x="3238967" y="553569"/>
                  </a:lnTo>
                  <a:lnTo>
                    <a:pt x="0" y="553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21137" y="7026376"/>
              <a:ext cx="2014745" cy="2014745"/>
            </a:xfrm>
            <a:custGeom>
              <a:avLst/>
              <a:gdLst/>
              <a:ahLst/>
              <a:cxnLst/>
              <a:rect r="r" b="b" t="t" l="l"/>
              <a:pathLst>
                <a:path h="2014745" w="2014745">
                  <a:moveTo>
                    <a:pt x="0" y="0"/>
                  </a:moveTo>
                  <a:lnTo>
                    <a:pt x="2014745" y="0"/>
                  </a:lnTo>
                  <a:lnTo>
                    <a:pt x="2014745" y="2014745"/>
                  </a:lnTo>
                  <a:lnTo>
                    <a:pt x="0" y="2014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6677850" y="3425709"/>
              <a:ext cx="524669" cy="1165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60"/>
                </a:lnSpc>
                <a:spcBef>
                  <a:spcPct val="0"/>
                </a:spcBef>
              </a:pPr>
              <a:r>
                <a:rPr lang="en-US" b="true" sz="5717" spc="-23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+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85691" y="201016"/>
            <a:ext cx="5902309" cy="1533525"/>
            <a:chOff x="0" y="0"/>
            <a:chExt cx="7869746" cy="204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9682" cy="2044700"/>
            </a:xfrm>
            <a:custGeom>
              <a:avLst/>
              <a:gdLst/>
              <a:ahLst/>
              <a:cxnLst/>
              <a:rect r="r" b="b" t="t" l="l"/>
              <a:pathLst>
                <a:path h="2044700" w="7869682">
                  <a:moveTo>
                    <a:pt x="0" y="0"/>
                  </a:moveTo>
                  <a:lnTo>
                    <a:pt x="7869682" y="0"/>
                  </a:lnTo>
                  <a:lnTo>
                    <a:pt x="7869682" y="2044700"/>
                  </a:lnTo>
                  <a:lnTo>
                    <a:pt x="0" y="204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8217503"/>
            <a:ext cx="1028700" cy="2070097"/>
            <a:chOff x="0" y="0"/>
            <a:chExt cx="1371600" cy="27601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2759329"/>
            </a:xfrm>
            <a:custGeom>
              <a:avLst/>
              <a:gdLst/>
              <a:ahLst/>
              <a:cxnLst/>
              <a:rect r="r" b="b" t="t" l="l"/>
              <a:pathLst>
                <a:path h="2759329" w="1371600">
                  <a:moveTo>
                    <a:pt x="1371600" y="2759329"/>
                  </a:moveTo>
                  <a:lnTo>
                    <a:pt x="0" y="2759329"/>
                  </a:lnTo>
                  <a:lnTo>
                    <a:pt x="0" y="0"/>
                  </a:lnTo>
                  <a:lnTo>
                    <a:pt x="1371600" y="0"/>
                  </a:lnTo>
                  <a:lnTo>
                    <a:pt x="1371600" y="2759329"/>
                  </a:lnTo>
                  <a:close/>
                </a:path>
              </a:pathLst>
            </a:custGeom>
            <a:solidFill>
              <a:srgbClr val="37B5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58026" y="318135"/>
            <a:ext cx="3248025" cy="1123950"/>
            <a:chOff x="0" y="0"/>
            <a:chExt cx="43307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07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330700">
                  <a:moveTo>
                    <a:pt x="0" y="0"/>
                  </a:moveTo>
                  <a:lnTo>
                    <a:pt x="4330700" y="0"/>
                  </a:lnTo>
                  <a:lnTo>
                    <a:pt x="4330700" y="1498600"/>
                  </a:lnTo>
                  <a:lnTo>
                    <a:pt x="0" y="14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82910" y="346710"/>
            <a:ext cx="1066800" cy="1066800"/>
            <a:chOff x="0" y="0"/>
            <a:chExt cx="1422400" cy="142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2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1422400"/>
                  </a:lnTo>
                  <a:lnTo>
                    <a:pt x="0" y="142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590455" y="3657525"/>
            <a:ext cx="7564195" cy="4200498"/>
          </a:xfrm>
          <a:custGeom>
            <a:avLst/>
            <a:gdLst/>
            <a:ahLst/>
            <a:cxnLst/>
            <a:rect r="r" b="b" t="t" l="l"/>
            <a:pathLst>
              <a:path h="4200498" w="7564195">
                <a:moveTo>
                  <a:pt x="0" y="0"/>
                </a:moveTo>
                <a:lnTo>
                  <a:pt x="7564195" y="0"/>
                </a:lnTo>
                <a:lnTo>
                  <a:pt x="7564195" y="4200498"/>
                </a:lnTo>
                <a:lnTo>
                  <a:pt x="0" y="4200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25" t="0" r="0" b="-68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40356" y="1725016"/>
            <a:ext cx="4457849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Impact &amp;</a:t>
            </a:r>
          </a:p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b="true" sz="5717" spc="-2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Future Scope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8026" y="3854867"/>
            <a:ext cx="10135006" cy="598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862" indent="-412931" lvl="1">
              <a:lnSpc>
                <a:spcPts val="5355"/>
              </a:lnSpc>
              <a:buFont typeface="Arial"/>
              <a:buChar char="•"/>
            </a:pP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Impact: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25% faster commutes; mass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iv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 energy/cost savings.</a:t>
            </a:r>
          </a:p>
          <a:p>
            <a:pPr algn="l" marL="825862" indent="-412931" lvl="1">
              <a:lnSpc>
                <a:spcPts val="5355"/>
              </a:lnSpc>
              <a:buFont typeface="Arial"/>
              <a:buChar char="•"/>
            </a:pP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Scaling: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Integration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with Autonomous Vehicles (V2X).</a:t>
            </a:r>
          </a:p>
          <a:p>
            <a:pPr algn="l" marL="825862" indent="-412931" lvl="1">
              <a:lnSpc>
                <a:spcPts val="5355"/>
              </a:lnSpc>
              <a:buFont typeface="Arial"/>
              <a:buChar char="•"/>
            </a:pP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Predictive: AI t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hat predicts crime or traffic before it happens.</a:t>
            </a:r>
          </a:p>
          <a:p>
            <a:pPr algn="l" marL="825862" indent="-412931" lvl="1">
              <a:lnSpc>
                <a:spcPts val="5355"/>
              </a:lnSpc>
              <a:buFont typeface="Arial"/>
              <a:buChar char="•"/>
            </a:pP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Goa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l: A</a:t>
            </a:r>
            <a:r>
              <a:rPr lang="en-US" b="true" sz="38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data-driven, sustainable urban ecosystem.</a:t>
            </a:r>
          </a:p>
          <a:p>
            <a:pPr algn="l">
              <a:lnSpc>
                <a:spcPts val="535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DAHGV7Ravds</dc:identifier>
  <dcterms:modified xsi:type="dcterms:W3CDTF">2011-08-01T06:04:30Z</dcterms:modified>
  <cp:revision>1</cp:revision>
  <dc:title>Apex</dc:title>
</cp:coreProperties>
</file>